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814255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700" b="1">
                <a:solidFill>
                  <a:srgbClr val="EAEEF2"/>
                </a:solidFill>
                <a:latin typeface="Cambria"/>
                <a:ea typeface="맑은 고딕"/>
                <a:cs typeface="Cambria"/>
              </a:rPr>
              <a:t>LAM 9600 식각 장비 센서 이상탐지 (FDC)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310896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01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2148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목적: 식각 중 장비가 남긴 센서 기록만으로 정상 공정에서 벗어난 웨이퍼를 골라낼 수 있는지, 그리고 어떤 방법이 가장 나은지 찾기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데이터: LAM TCP 9600 금속식각 공개 벤치마크 — 12,829행 × 23열, 웨이퍼 129개, 식각 Step 4·5 구간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결론 예고: 시점이 아니라 웨이퍼 단위로 봐야 하고, 신호는 값의 '평균'이 아니라 '산포'에 있었다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86200"/>
            <a:ext cx="1911644" cy="2148840"/>
          </a:xfrm>
          <a:prstGeom prst="roundRect">
            <a:avLst>
              <a:gd name="adj" fmla="val 9000"/>
            </a:avLst>
          </a:prstGeom>
          <a:solidFill>
            <a:srgbClr val="E8A13A">
              <a:alpha val="8000"/>
            </a:srgbClr>
          </a:solidFill>
          <a:ln w="12700">
            <a:solidFill>
              <a:srgbClr val="E8A13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문제 정의</a:t>
            </a:r>
          </a:p>
        </p:txBody>
      </p:sp>
      <p:sp>
        <p:nvSpPr>
          <p:cNvPr id="6" name="Isosceles Triangle 5"/>
          <p:cNvSpPr/>
          <p:nvPr/>
        </p:nvSpPr>
        <p:spPr>
          <a:xfrm rot="5400000">
            <a:off x="2533436" y="4841748"/>
            <a:ext cx="237744" cy="237744"/>
          </a:xfrm>
          <a:prstGeom prst="triangl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44332" y="3886200"/>
            <a:ext cx="1911644" cy="2148840"/>
          </a:xfrm>
          <a:prstGeom prst="roundRect">
            <a:avLst>
              <a:gd name="adj" fmla="val 9000"/>
            </a:avLst>
          </a:prstGeom>
          <a:solidFill>
            <a:srgbClr val="E8A13A">
              <a:alpha val="8000"/>
            </a:srgbClr>
          </a:solidFill>
          <a:ln w="12700">
            <a:solidFill>
              <a:srgbClr val="E8A13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전처리
이상값 교정 · 스텝 분리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4829129" y="4841748"/>
            <a:ext cx="237744" cy="237744"/>
          </a:xfrm>
          <a:prstGeom prst="triangl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40025" y="3886200"/>
            <a:ext cx="1911644" cy="2148840"/>
          </a:xfrm>
          <a:prstGeom prst="roundRect">
            <a:avLst>
              <a:gd name="adj" fmla="val 9000"/>
            </a:avLst>
          </a:prstGeom>
          <a:solidFill>
            <a:srgbClr val="E8A13A">
              <a:alpha val="8000"/>
            </a:srgbClr>
          </a:solidFill>
          <a:ln w="12700">
            <a:solidFill>
              <a:srgbClr val="E8A13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분석 단위
정하기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7124821" y="4841748"/>
            <a:ext cx="237744" cy="237744"/>
          </a:xfrm>
          <a:prstGeom prst="triangl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35717" y="3886200"/>
            <a:ext cx="1911644" cy="2148840"/>
          </a:xfrm>
          <a:prstGeom prst="roundRect">
            <a:avLst>
              <a:gd name="adj" fmla="val 9000"/>
            </a:avLst>
          </a:prstGeom>
          <a:solidFill>
            <a:srgbClr val="E8A13A">
              <a:alpha val="8000"/>
            </a:srgbClr>
          </a:solidFill>
          <a:ln w="12700">
            <a:solidFill>
              <a:srgbClr val="E8A13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모델 · 관리도</a:t>
            </a:r>
          </a:p>
        </p:txBody>
      </p:sp>
      <p:sp>
        <p:nvSpPr>
          <p:cNvPr id="12" name="Isosceles Triangle 11"/>
          <p:cNvSpPr/>
          <p:nvPr/>
        </p:nvSpPr>
        <p:spPr>
          <a:xfrm rot="5400000">
            <a:off x="9420514" y="4841748"/>
            <a:ext cx="237744" cy="237744"/>
          </a:xfrm>
          <a:prstGeom prst="triangl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31410" y="3886200"/>
            <a:ext cx="1911644" cy="2148840"/>
          </a:xfrm>
          <a:prstGeom prst="roundRect">
            <a:avLst>
              <a:gd name="adj" fmla="val 9000"/>
            </a:avLst>
          </a:prstGeom>
          <a:solidFill>
            <a:srgbClr val="E8A13A">
              <a:alpha val="8000"/>
            </a:srgbClr>
          </a:solidFill>
          <a:ln w="12700">
            <a:solidFill>
              <a:srgbClr val="E8A13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결론 · 전략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814255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700" b="1">
                <a:solidFill>
                  <a:srgbClr val="EAEEF2"/>
                </a:solidFill>
                <a:latin typeface="Cambria"/>
                <a:ea typeface="맑은 고딕"/>
                <a:cs typeface="Cambria"/>
              </a:rPr>
              <a:t>이 데이터의 정체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310896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2148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정상 웨이퍼 108개 + 공정 파라미터를 일부러 규격에서 틀어놓은 웨이퍼 21개를 합쳐 result에 Pass/Fail을 붙인 것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그래서 result=Fail은 계측·전기검사 불합격이 아니라 '통제된 공정 이탈' — 제품 불량 예측이 아닌 FDC(공정 이상탐지) 문제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불균형 데이터: 행 기준 Fail 2,059건 / 16.05% (Pass 10,770 / 83.95%)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703320"/>
          <a:ext cx="11094415" cy="2923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9357055"/>
              </a:tblGrid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항목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내용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15000"/>
                      </a:srgbClr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크기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12,829행 × 23열  (1행 = 웨이퍼 한 장의 한 시점)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식별 열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wafer_id · Time · Step Number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센서 열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19개 — BCl3·Cl2 유량, 압력, He 척압력, RF·TCP 파워/반사파워/매칭위치/임피던스/위상오차, Endpt A, Vat Valve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타깃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result = Pass / Fail  (웨이퍼 단위 라벨)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Fail 비율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행 기준 16.05%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814255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700" b="1">
                <a:solidFill>
                  <a:srgbClr val="EAEEF2"/>
                </a:solidFill>
                <a:latin typeface="Cambria"/>
                <a:ea typeface="맑은 고딕"/>
                <a:cs typeface="Cambria"/>
              </a:rPr>
              <a:t>전처리 ① 물리적으로 불가능한 값 교정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310896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21031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결측치·상수열 확인 결과 없음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TCP 반사전력(TCP Rfl Pwr)에 음수(−1)가 1건 — 반사전력은 발생기로 되돌아온 전력이라 음수 불가, 계측 노이즈로 판단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해당 1건(l3321.txm, Time 38.7656)을 0으로 교정하고 원본은 그대로 둔 채 lam_etch_modify_2.csv로 새로 저장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0"/>
            <a:ext cx="5394960" cy="2651760"/>
          </a:xfrm>
          <a:prstGeom prst="roundRect">
            <a:avLst>
              <a:gd name="adj" fmla="val 5000"/>
            </a:avLst>
          </a:prstGeom>
          <a:solidFill>
            <a:srgbClr val="E8A13A">
              <a:alpha val="7000"/>
            </a:srgbClr>
          </a:solidFill>
          <a:ln w="12700">
            <a:solidFill>
              <a:srgbClr val="E8A13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5876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수정 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70832"/>
            <a:ext cx="502920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600" b="1">
                <a:solidFill>
                  <a:srgbClr val="EAEEF2"/>
                </a:solidFill>
                <a:latin typeface="Cambria"/>
                <a:ea typeface="맑은 고딕"/>
                <a:cs typeface="Cambria"/>
              </a:rPr>
              <a:t>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50992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TCP Rfl Pwr · 1건 (l3321.txm, Time 38.7656)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3657600"/>
            <a:ext cx="5394960" cy="2651760"/>
          </a:xfrm>
          <a:prstGeom prst="roundRect">
            <a:avLst>
              <a:gd name="adj" fmla="val 5000"/>
            </a:avLst>
          </a:prstGeom>
          <a:solidFill>
            <a:srgbClr val="E8A13A">
              <a:alpha val="7000"/>
            </a:srgbClr>
          </a:solidFill>
          <a:ln w="12700">
            <a:solidFill>
              <a:srgbClr val="E8A13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385876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수정 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4370832"/>
            <a:ext cx="502920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600" b="1">
                <a:solidFill>
                  <a:srgbClr val="EAEEF2"/>
                </a:solidFill>
                <a:latin typeface="Cambria"/>
                <a:ea typeface="맑은 고딕"/>
                <a:cs typeface="Cambr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695" y="5650992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0으로 교정 · 원본 lam_etch_modify.csv에는 −1 그대로 보존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5940399" y="4828032"/>
            <a:ext cx="310896" cy="310896"/>
          </a:xfrm>
          <a:prstGeom prst="triangl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814255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700" b="1">
                <a:solidFill>
                  <a:srgbClr val="EAEEF2"/>
                </a:solidFill>
                <a:latin typeface="Cambria"/>
                <a:ea typeface="맑은 고딕"/>
                <a:cs typeface="Cambria"/>
              </a:rPr>
              <a:t>전처리 ② 식각 스텝 분리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310896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2148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Step 4(Al 주식각)와 Step 5(TiN·산화막 오버에치)는 공정 조건 자체가 다름 (BCl3 유량·압력 평균이 스텝마다 다름)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섞어서 학습시키면 '스텝이 달라서 나는 차이'와 '결함이라서 나는 차이'가 뒤섞임 → 스텝별 CSV로 분리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Step 4: 6,025행 / Step 5: 6,804행 (합계 12,829 = 원본, 행 손실 없음)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749039"/>
            <a:ext cx="3442106" cy="1874519"/>
          </a:xfrm>
          <a:prstGeom prst="roundRect">
            <a:avLst>
              <a:gd name="adj" fmla="val 9000"/>
            </a:avLst>
          </a:prstGeom>
          <a:solidFill>
            <a:srgbClr val="E8A13A">
              <a:alpha val="8000"/>
            </a:srgbClr>
          </a:solidFill>
          <a:ln w="12700">
            <a:solidFill>
              <a:srgbClr val="E8A13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lam_etch_modify_2.csv
12,829행</a:t>
            </a:r>
          </a:p>
        </p:txBody>
      </p:sp>
      <p:sp>
        <p:nvSpPr>
          <p:cNvPr id="6" name="Isosceles Triangle 5"/>
          <p:cNvSpPr/>
          <p:nvPr/>
        </p:nvSpPr>
        <p:spPr>
          <a:xfrm rot="5400000">
            <a:off x="4063898" y="4567428"/>
            <a:ext cx="237744" cy="237744"/>
          </a:xfrm>
          <a:prstGeom prst="triangl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74794" y="3749039"/>
            <a:ext cx="3442106" cy="1874519"/>
          </a:xfrm>
          <a:prstGeom prst="roundRect">
            <a:avLst>
              <a:gd name="adj" fmla="val 9000"/>
            </a:avLst>
          </a:prstGeom>
          <a:solidFill>
            <a:srgbClr val="E8A13A">
              <a:alpha val="8000"/>
            </a:srgbClr>
          </a:solidFill>
          <a:ln w="12700">
            <a:solidFill>
              <a:srgbClr val="E8A13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Step Number
기준 분리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7890052" y="4567428"/>
            <a:ext cx="237744" cy="237744"/>
          </a:xfrm>
          <a:prstGeom prst="triangl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00948" y="3749039"/>
            <a:ext cx="3442106" cy="1874519"/>
          </a:xfrm>
          <a:prstGeom prst="roundRect">
            <a:avLst>
              <a:gd name="adj" fmla="val 9000"/>
            </a:avLst>
          </a:prstGeom>
          <a:solidFill>
            <a:srgbClr val="E8A13A">
              <a:alpha val="8000"/>
            </a:srgbClr>
          </a:solidFill>
          <a:ln w="12700">
            <a:solidFill>
              <a:srgbClr val="E8A13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lam_etch_step4.csv — 6,025행
lam_etch_step5.csv — 6,804행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상수가 된 Step Number 열은 제거 · wafer_id는 유지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814255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700" b="1">
                <a:solidFill>
                  <a:srgbClr val="EAEEF2"/>
                </a:solidFill>
                <a:latin typeface="Cambria"/>
                <a:ea typeface="맑은 고딕"/>
                <a:cs typeface="Cambria"/>
              </a:rPr>
              <a:t>분석 단위 문제 — 시점(행) 단위에는 신호가 없다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310896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21031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행 단위로 표준화 후 로지스틱 회귀(일반)를 학습 → 시험용 Fail을 하나도 못 잡음 (재현율 0, F1 0)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원인 확인(16-5): 학습된 모델이 매긴 Fail 예측 확률이, 실제 Fail 행에서 오히려 더 낮게 나옴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라벨은 웨이퍼 단위인데 입력은 한 시점이라 신호 대 잡음비가 구조적으로 낮음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Step 4 · 시험용 1,234행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3192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E8A13A">
              <a:alpha val="7000"/>
            </a:srgbClr>
          </a:solidFill>
          <a:ln w="12700">
            <a:solidFill>
              <a:srgbClr val="E8A13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133087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시험용 전체 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45152"/>
            <a:ext cx="5029200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600" b="1">
                <a:solidFill>
                  <a:srgbClr val="EAEEF2"/>
                </a:solidFill>
                <a:latin typeface="Cambria"/>
                <a:ea typeface="맑은 고딕"/>
                <a:cs typeface="Cambria"/>
              </a:rPr>
              <a:t>0.1238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42432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평균 Fail 예측 확률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393192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E8A13A">
              <a:alpha val="7000"/>
            </a:srgbClr>
          </a:solidFill>
          <a:ln w="12700">
            <a:solidFill>
              <a:srgbClr val="E8A13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4133087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실제 Fail 행 (192개)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0975" y="4645152"/>
            <a:ext cx="5029200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600" b="1">
                <a:solidFill>
                  <a:srgbClr val="EAEEF2"/>
                </a:solidFill>
                <a:latin typeface="Cambria"/>
                <a:ea typeface="맑은 고딕"/>
                <a:cs typeface="Cambria"/>
              </a:rPr>
              <a:t>0.0554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6695" y="5742432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평균 Fail 예측 확률 — 오히려 더 낮음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5940399" y="5010912"/>
            <a:ext cx="310896" cy="310896"/>
          </a:xfrm>
          <a:prstGeom prst="triangl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814255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700" b="1">
                <a:solidFill>
                  <a:srgbClr val="EAEEF2"/>
                </a:solidFill>
                <a:latin typeface="Cambria"/>
                <a:ea typeface="맑은 고딕"/>
                <a:cs typeface="Cambria"/>
              </a:rPr>
              <a:t>해결책 — 웨이퍼 단위로 압축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310896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2148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한 웨이퍼의 여러 시점을 센서마다 평균 1개 + 표준편차 1개로 요약 (센서 19개 → 피처 38개)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1행 = 1웨이퍼가 되어 입력 단위가 라벨 단위(웨이퍼)와 일치, 학습/시험 분할도 단순해짐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결과 파일: lam_etch_step4_agg.csv 129행 / lam_etch_step5_agg.csv 128행 (각 41열)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2485567" cy="2194560"/>
          </a:xfrm>
          <a:prstGeom prst="roundRect">
            <a:avLst>
              <a:gd name="adj" fmla="val 9000"/>
            </a:avLst>
          </a:prstGeom>
          <a:solidFill>
            <a:srgbClr val="E8A13A">
              <a:alpha val="8000"/>
            </a:srgbClr>
          </a:solidFill>
          <a:ln w="12700">
            <a:solidFill>
              <a:srgbClr val="E8A13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웨이퍼당 원시 행 수십 개
(step4 평균 46.7행)</a:t>
            </a:r>
          </a:p>
        </p:txBody>
      </p:sp>
      <p:sp>
        <p:nvSpPr>
          <p:cNvPr id="6" name="Isosceles Triangle 5"/>
          <p:cNvSpPr/>
          <p:nvPr/>
        </p:nvSpPr>
        <p:spPr>
          <a:xfrm rot="5400000">
            <a:off x="3107359" y="4818888"/>
            <a:ext cx="237744" cy="237744"/>
          </a:xfrm>
          <a:prstGeom prst="triangl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18255" y="3840480"/>
            <a:ext cx="2485567" cy="2194560"/>
          </a:xfrm>
          <a:prstGeom prst="roundRect">
            <a:avLst>
              <a:gd name="adj" fmla="val 9000"/>
            </a:avLst>
          </a:prstGeom>
          <a:solidFill>
            <a:srgbClr val="E8A13A">
              <a:alpha val="8000"/>
            </a:srgbClr>
          </a:solidFill>
          <a:ln w="12700">
            <a:solidFill>
              <a:srgbClr val="E8A13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groupby
(wafer_id)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5976975" y="4818888"/>
            <a:ext cx="237744" cy="237744"/>
          </a:xfrm>
          <a:prstGeom prst="triangl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87871" y="3840480"/>
            <a:ext cx="2485567" cy="2194560"/>
          </a:xfrm>
          <a:prstGeom prst="roundRect">
            <a:avLst>
              <a:gd name="adj" fmla="val 9000"/>
            </a:avLst>
          </a:prstGeom>
          <a:solidFill>
            <a:srgbClr val="E8A13A">
              <a:alpha val="8000"/>
            </a:srgbClr>
          </a:solidFill>
          <a:ln w="12700">
            <a:solidFill>
              <a:srgbClr val="E8A13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센서별
mean + std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8846591" y="4818888"/>
            <a:ext cx="237744" cy="237744"/>
          </a:xfrm>
          <a:prstGeom prst="triangl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57487" y="3840480"/>
            <a:ext cx="2485567" cy="2194560"/>
          </a:xfrm>
          <a:prstGeom prst="roundRect">
            <a:avLst>
              <a:gd name="adj" fmla="val 9000"/>
            </a:avLst>
          </a:prstGeom>
          <a:solidFill>
            <a:srgbClr val="E8A13A">
              <a:alpha val="8000"/>
            </a:srgbClr>
          </a:solidFill>
          <a:ln w="12700">
            <a:solidFill>
              <a:srgbClr val="E8A13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웨이퍼당 1행
(38피처)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814255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700" b="1">
                <a:solidFill>
                  <a:srgbClr val="EAEEF2"/>
                </a:solidFill>
                <a:latin typeface="Cambria"/>
                <a:ea typeface="맑은 고딕"/>
                <a:cs typeface="Cambria"/>
              </a:rPr>
              <a:t>결과 — 기준 모델과 나란히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310896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2011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5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정확도만 보면 기준 모델과 비슷해 보이지만, F1으로 보면 행 단위 모델은 0 → 웨이퍼 압축 후 0.33까지 개선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5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기준 모델(전부 Pass)은 정의상 Fail을 한 건도 못 잡음 — 정확도 0.84는 불균형이 만든 착시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5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시험용 Fail이 스텝당 4개뿐이라 압축 모델의 일반/balanced 순위는 우연에 크게 흔들릴 수 있음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611880"/>
          <a:ext cx="11091672" cy="29182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1371600"/>
                <a:gridCol w="1938528"/>
                <a:gridCol w="1938528"/>
                <a:gridCol w="1938528"/>
                <a:gridCol w="1938528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지표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기준 모델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행-로지스틱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(일반)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행-로지스틱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(balanced)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압축-로지스틱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(일반)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압축-로지스틱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(balanced)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15000"/>
                      </a:srgbClr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평가 단위 / 개수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—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행 1,234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행 1,234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웨이퍼 26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웨이퍼 26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정확도 (Step 4)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0.8444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0.8436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0.5259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0.8462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0.7692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정밀도 (Step 4)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—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0.0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0.0398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0.5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0.25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재현율 (Step 4)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0.0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0.0885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0.25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0.25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F1 (Step 4)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0.0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0.0549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0.3333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0.25</a:t>
                      </a:r>
                    </a:p>
                  </a:txBody>
                  <a:tcPr anchor="ctr" marL="82296" marR="82296" marT="45720" marB="45720">
                    <a:solidFill>
                      <a:srgbClr val="12161C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F1 (Step 5)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0.0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0.0767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E8A13A"/>
                          </a:solidFill>
                          <a:latin typeface="Calibri"/>
                          <a:ea typeface="맑은 고딕"/>
                          <a:cs typeface="Calibri"/>
                        </a:rPr>
                        <a:t>0.0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EAEEF2"/>
                          </a:solidFill>
                          <a:latin typeface="Calibri"/>
                          <a:ea typeface="맑은 고딕"/>
                          <a:cs typeface="Calibri"/>
                        </a:rPr>
                        <a:t>0.2857</a:t>
                      </a:r>
                    </a:p>
                  </a:txBody>
                  <a:tcPr anchor="ctr" marL="82296" marR="82296" marT="45720" marB="45720">
                    <a:solidFill>
                      <a:srgbClr val="E8A13A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814255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700" b="1">
                <a:solidFill>
                  <a:srgbClr val="EAEEF2"/>
                </a:solidFill>
                <a:latin typeface="Cambria"/>
                <a:ea typeface="맑은 고딕"/>
                <a:cs typeface="Cambria"/>
              </a:rPr>
              <a:t>원인 후보 탐색 — 신호는 '평균'이 아니라 '산포'에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310896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2011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5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38개 피처 각각에 대해 (Fail 웨이퍼 평균 − Pass 웨이퍼 평균) ÷ 표준편차(효과크기)를 계산해 순위화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5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두 스텝 공통 상위: RF Load_std(둘 다 1위), RF Tuner_std, Pressure_std, BCl3 Flow_mean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5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RF 매칭 네트워크(Load·Tuner)가 런 도중 얼마나 흔들렸는지가 Fail과 가장 크게 연관 — 단, 상관관계까지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11880"/>
            <a:ext cx="5440680" cy="2743200"/>
          </a:xfrm>
          <a:prstGeom prst="roundRect">
            <a:avLst>
              <a:gd name="adj" fmla="val 5000"/>
            </a:avLst>
          </a:prstGeom>
          <a:solidFill>
            <a:srgbClr val="E8A13A">
              <a:alpha val="7000"/>
            </a:srgbClr>
          </a:solidFill>
          <a:ln w="12700">
            <a:solidFill>
              <a:srgbClr val="E8A13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721608"/>
            <a:ext cx="5038344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Step 4 — Fail−Pass 효과크기 상위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15384"/>
            <a:ext cx="21488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RF Load_std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4343400"/>
            <a:ext cx="1596288" cy="14630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4215384"/>
            <a:ext cx="68580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0.8978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17720"/>
            <a:ext cx="21488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Pressure_std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4745736"/>
            <a:ext cx="1569440" cy="14630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4617720"/>
            <a:ext cx="68580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0.8827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20056"/>
            <a:ext cx="21488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RF Phase Err_mean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5148072"/>
            <a:ext cx="1297406" cy="14630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5020056"/>
            <a:ext cx="68580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0.7297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22392"/>
            <a:ext cx="21488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BCl3 Flow_mean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5550408"/>
            <a:ext cx="1232154" cy="146304"/>
          </a:xfrm>
          <a:prstGeom prst="rect">
            <a:avLst/>
          </a:prstGeom>
          <a:solidFill>
            <a:srgbClr val="E8A13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5422392"/>
            <a:ext cx="68580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−0.6930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24728"/>
            <a:ext cx="21488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RF Tuner_std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5952744"/>
            <a:ext cx="1183614" cy="14630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5824728"/>
            <a:ext cx="68580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0.6657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2375" y="3611880"/>
            <a:ext cx="5440680" cy="2743200"/>
          </a:xfrm>
          <a:prstGeom prst="roundRect">
            <a:avLst>
              <a:gd name="adj" fmla="val 5000"/>
            </a:avLst>
          </a:prstGeom>
          <a:solidFill>
            <a:srgbClr val="E8A13A">
              <a:alpha val="7000"/>
            </a:srgbClr>
          </a:solidFill>
          <a:ln w="12700">
            <a:solidFill>
              <a:srgbClr val="E8A13A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3543" y="3721608"/>
            <a:ext cx="5038344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Step 5 — Fail−Pass 효과크기 상위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0975" y="4215384"/>
            <a:ext cx="21488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RF Load_std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25535" y="4343400"/>
            <a:ext cx="1310386" cy="14630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98887" y="4215384"/>
            <a:ext cx="68580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0.7370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0975" y="4617720"/>
            <a:ext cx="21488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RF Tuner_std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25535" y="4745736"/>
            <a:ext cx="1136853" cy="14630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98887" y="4617720"/>
            <a:ext cx="68580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0.6394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0975" y="5020056"/>
            <a:ext cx="21488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BCl3 Flow_mean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25535" y="5148072"/>
            <a:ext cx="962253" cy="14630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98887" y="5020056"/>
            <a:ext cx="68580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0.5412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0975" y="5422392"/>
            <a:ext cx="21488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Pressure_std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25535" y="5550408"/>
            <a:ext cx="953541" cy="14630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98887" y="5422392"/>
            <a:ext cx="68580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0.5363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0975" y="5824728"/>
            <a:ext cx="21488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RF Pwr_std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25535" y="5952744"/>
            <a:ext cx="917092" cy="146304"/>
          </a:xfrm>
          <a:prstGeom prst="rect">
            <a:avLst/>
          </a:prstGeom>
          <a:solidFill>
            <a:srgbClr val="E8A13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98887" y="5824728"/>
            <a:ext cx="68580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−0.5158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814255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700" b="1">
                <a:solidFill>
                  <a:srgbClr val="EAEEF2"/>
                </a:solidFill>
                <a:latin typeface="Cambria"/>
                <a:ea typeface="맑은 고딕"/>
                <a:cs typeface="Cambria"/>
              </a:rPr>
              <a:t>3σ 관리도 — 정밀하지만 놓치는 게 많다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310896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09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5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RF Load_std를 웨이퍼 순서로 늘어놓고 3σ 관리도 작성 — 중심선·관리한계는 Pass 웨이퍼만으로 산정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5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Step 4: 관리상한 이탈 5개 중 실제 Fail 4/21, 오탐 1건 / Step 5: 이탈 3개 중 3/21, 오탐 0건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5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걸리면 거의 진짜(정밀도 높음)지만, 잡아내는 비율은 4/21·3/21로 낮아 대부분의 Fail은 선 아래에 있음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51560" y="5806440"/>
            <a:ext cx="8549640" cy="0"/>
          </a:xfrm>
          <a:prstGeom prst="line">
            <a:avLst/>
          </a:prstGeom>
          <a:ln w="12700">
            <a:solidFill>
              <a:srgbClr val="EAEEF2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51560" y="5074920"/>
            <a:ext cx="8549640" cy="0"/>
          </a:xfrm>
          <a:prstGeom prst="line">
            <a:avLst/>
          </a:prstGeom>
          <a:ln w="15875">
            <a:solidFill>
              <a:srgbClr val="EAEEF2">
                <a:alpha val="7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51560" y="3977639"/>
            <a:ext cx="8549640" cy="0"/>
          </a:xfrm>
          <a:prstGeom prst="line">
            <a:avLst/>
          </a:prstGeom>
          <a:ln w="20320">
            <a:solidFill>
              <a:srgbClr val="E8A13A">
                <a:alpha val="10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710928" y="4928616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중심선 · Pass 평균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0928" y="3831335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UCL · Pass +3σ</a:t>
            </a:r>
          </a:p>
        </p:txBody>
      </p:sp>
      <p:sp>
        <p:nvSpPr>
          <p:cNvPr id="10" name="Oval 9"/>
          <p:cNvSpPr/>
          <p:nvPr/>
        </p:nvSpPr>
        <p:spPr>
          <a:xfrm>
            <a:off x="1499616" y="5157216"/>
            <a:ext cx="109728" cy="109728"/>
          </a:xfrm>
          <a:prstGeom prst="ellipse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83664" y="5385816"/>
            <a:ext cx="109728" cy="109728"/>
          </a:xfrm>
          <a:prstGeom prst="ellipse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58568" y="4828031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51760" y="5084064"/>
            <a:ext cx="109728" cy="109728"/>
          </a:xfrm>
          <a:prstGeom prst="ellipse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35808" y="5477256"/>
            <a:ext cx="109728" cy="109728"/>
          </a:xfrm>
          <a:prstGeom prst="ellipse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10712" y="4526279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03904" y="5248656"/>
            <a:ext cx="109728" cy="109728"/>
          </a:xfrm>
          <a:prstGeom prst="ellipse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78807" y="3611879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2000" y="5138928"/>
            <a:ext cx="109728" cy="109728"/>
          </a:xfrm>
          <a:prstGeom prst="ellipse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46903" y="4709159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40096" y="3694176"/>
            <a:ext cx="109728" cy="109728"/>
          </a:xfrm>
          <a:prstGeom prst="ellipse">
            <a:avLst/>
          </a:prstGeom>
          <a:noFill/>
          <a:ln w="15875">
            <a:solidFill>
              <a:srgbClr val="E8A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5431536"/>
            <a:ext cx="109728" cy="109728"/>
          </a:xfrm>
          <a:prstGeom prst="ellipse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08192" y="5202936"/>
            <a:ext cx="109728" cy="109728"/>
          </a:xfrm>
          <a:prstGeom prst="ellipse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3096" y="3739896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67144" y="4379976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60336" y="5340096"/>
            <a:ext cx="109728" cy="109728"/>
          </a:xfrm>
          <a:prstGeom prst="ellipse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3639312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28431" y="5120640"/>
            <a:ext cx="109728" cy="109728"/>
          </a:xfrm>
          <a:prstGeom prst="ellipse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03336" y="3547872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87384" y="4599431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80576" y="5294376"/>
            <a:ext cx="109728" cy="109728"/>
          </a:xfrm>
          <a:prstGeom prst="ellipse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3271" y="5989320"/>
            <a:ext cx="128016" cy="128016"/>
          </a:xfrm>
          <a:prstGeom prst="ellips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39" y="5907024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Fail</a:t>
            </a:r>
          </a:p>
        </p:txBody>
      </p:sp>
      <p:sp>
        <p:nvSpPr>
          <p:cNvPr id="33" name="Oval 32"/>
          <p:cNvSpPr/>
          <p:nvPr/>
        </p:nvSpPr>
        <p:spPr>
          <a:xfrm>
            <a:off x="1956816" y="5998464"/>
            <a:ext cx="109728" cy="109728"/>
          </a:xfrm>
          <a:prstGeom prst="ellipse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48839" y="5907024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Pass</a:t>
            </a:r>
          </a:p>
        </p:txBody>
      </p:sp>
      <p:sp>
        <p:nvSpPr>
          <p:cNvPr id="35" name="Oval 34"/>
          <p:cNvSpPr/>
          <p:nvPr/>
        </p:nvSpPr>
        <p:spPr>
          <a:xfrm>
            <a:off x="2871215" y="5998464"/>
            <a:ext cx="109728" cy="109728"/>
          </a:xfrm>
          <a:prstGeom prst="ellipse">
            <a:avLst/>
          </a:prstGeom>
          <a:noFill/>
          <a:ln w="15875">
            <a:solidFill>
              <a:srgbClr val="E8A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5907024"/>
            <a:ext cx="109728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오탐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79" y="5888736"/>
            <a:ext cx="7498079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Step 4: 이탈 5 → Fail 4 · 오탐 1      Step 5: 이탈 3 → Fail 3 · 오탐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814255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700" b="1">
                <a:solidFill>
                  <a:srgbClr val="EAEEF2"/>
                </a:solidFill>
                <a:latin typeface="Cambria"/>
                <a:ea typeface="맑은 고딕"/>
                <a:cs typeface="Cambria"/>
              </a:rPr>
              <a:t>결론과 제안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54335" y="310896"/>
            <a:ext cx="11887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2148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시점이 아니라 웨이퍼 단위 요약값으로 봐야 한다 (데이터로 확인, 강하게 말할 수 있음)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원인 후보는 RF 매칭계·압력 제어계 쪽으로 좁혀짐 — 인과가 아닌 상관관계 수준</a:t>
            </a:r>
          </a:p>
          <a:p>
            <a:pPr algn="l" marL="274320" indent="-274320">
              <a:lnSpc>
                <a:spcPct val="112000"/>
              </a:lnSpc>
              <a:spcAft>
                <a:spcPts val="1100"/>
              </a:spcAft>
              <a:buClr>
                <a:srgbClr val="E8A13A"/>
              </a:buClr>
              <a:buFont typeface="Arial"/>
              <a:buChar char="•"/>
            </a:pPr>
            <a:r>
              <a:rPr sz="170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한계: Fail 웨이퍼 21개·시험용 4개, 교차검증 미실시 → 성능 수치는 이 분할에서 나온 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703320"/>
            <a:ext cx="3442106" cy="2057400"/>
          </a:xfrm>
          <a:prstGeom prst="roundRect">
            <a:avLst>
              <a:gd name="adj" fmla="val 9000"/>
            </a:avLst>
          </a:prstGeom>
          <a:solidFill>
            <a:srgbClr val="E8A13A">
              <a:alpha val="8000"/>
            </a:srgbClr>
          </a:solidFill>
          <a:ln w="12700">
            <a:solidFill>
              <a:srgbClr val="E8A13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① 실시간층
시점 급변 감시
(이번 범위 밖)</a:t>
            </a:r>
          </a:p>
        </p:txBody>
      </p:sp>
      <p:sp>
        <p:nvSpPr>
          <p:cNvPr id="6" name="Isosceles Triangle 5"/>
          <p:cNvSpPr/>
          <p:nvPr/>
        </p:nvSpPr>
        <p:spPr>
          <a:xfrm rot="5400000">
            <a:off x="4063898" y="4613148"/>
            <a:ext cx="237744" cy="237744"/>
          </a:xfrm>
          <a:prstGeom prst="triangl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74794" y="3703320"/>
            <a:ext cx="3442106" cy="2057400"/>
          </a:xfrm>
          <a:prstGeom prst="roundRect">
            <a:avLst>
              <a:gd name="adj" fmla="val 9000"/>
            </a:avLst>
          </a:prstGeom>
          <a:solidFill>
            <a:srgbClr val="E8A13A">
              <a:alpha val="8000"/>
            </a:srgbClr>
          </a:solidFill>
          <a:ln w="12700">
            <a:solidFill>
              <a:srgbClr val="E8A13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② 런투런층
관리도 1차 경보
+ 압축-로지스틱 보조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7890052" y="4613148"/>
            <a:ext cx="237744" cy="237744"/>
          </a:xfrm>
          <a:prstGeom prst="triangle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00948" y="3703320"/>
            <a:ext cx="3442106" cy="2057400"/>
          </a:xfrm>
          <a:prstGeom prst="roundRect">
            <a:avLst>
              <a:gd name="adj" fmla="val 9000"/>
            </a:avLst>
          </a:prstGeom>
          <a:solidFill>
            <a:srgbClr val="E8A13A">
              <a:alpha val="8000"/>
            </a:srgbClr>
          </a:solidFill>
          <a:ln w="12700">
            <a:solidFill>
              <a:srgbClr val="E8A13A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EAEEF2"/>
                </a:solidFill>
                <a:latin typeface="Calibri"/>
                <a:ea typeface="맑은 고딕"/>
                <a:cs typeface="Calibri"/>
              </a:rPr>
              <a:t>③ 드릴다운층
지목된 웨이퍼의
원본 시계열로 원인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E8A13A"/>
                </a:solidFill>
                <a:latin typeface="Calibri"/>
                <a:ea typeface="맑은 고딕"/>
                <a:cs typeface="Calibri"/>
              </a:rPr>
              <a:t>3계층 이상탐지 전략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